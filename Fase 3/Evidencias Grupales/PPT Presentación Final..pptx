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ovelo" charset="1" panose="02000000000000000000"/>
      <p:regular r:id="rId20"/>
    </p:embeddedFont>
    <p:embeddedFont>
      <p:font typeface="Open Sans" charset="1" panose="020B0606030504020204"/>
      <p:regular r:id="rId21"/>
    </p:embeddedFont>
    <p:embeddedFont>
      <p:font typeface="Open Sans Bold" charset="1" panose="020B0806030504020204"/>
      <p:regular r:id="rId22"/>
    </p:embeddedFont>
    <p:embeddedFont>
      <p:font typeface="Emmali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8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672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228522" y="-1950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831152" y="6348755"/>
            <a:ext cx="6625696" cy="695706"/>
            <a:chOff x="0" y="0"/>
            <a:chExt cx="1745039" cy="1832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5039" cy="183231"/>
            </a:xfrm>
            <a:custGeom>
              <a:avLst/>
              <a:gdLst/>
              <a:ahLst/>
              <a:cxnLst/>
              <a:rect r="r" b="b" t="t" l="l"/>
              <a:pathLst>
                <a:path h="183231" w="1745039">
                  <a:moveTo>
                    <a:pt x="59592" y="0"/>
                  </a:moveTo>
                  <a:lnTo>
                    <a:pt x="1685448" y="0"/>
                  </a:lnTo>
                  <a:cubicBezTo>
                    <a:pt x="1718359" y="0"/>
                    <a:pt x="1745039" y="26680"/>
                    <a:pt x="1745039" y="59592"/>
                  </a:cubicBezTo>
                  <a:lnTo>
                    <a:pt x="1745039" y="123639"/>
                  </a:lnTo>
                  <a:cubicBezTo>
                    <a:pt x="1745039" y="139444"/>
                    <a:pt x="1738761" y="154601"/>
                    <a:pt x="1727585" y="165777"/>
                  </a:cubicBezTo>
                  <a:cubicBezTo>
                    <a:pt x="1716410" y="176953"/>
                    <a:pt x="1701252" y="183231"/>
                    <a:pt x="1685448" y="183231"/>
                  </a:cubicBezTo>
                  <a:lnTo>
                    <a:pt x="59592" y="183231"/>
                  </a:lnTo>
                  <a:cubicBezTo>
                    <a:pt x="43787" y="183231"/>
                    <a:pt x="28630" y="176953"/>
                    <a:pt x="17454" y="165777"/>
                  </a:cubicBezTo>
                  <a:cubicBezTo>
                    <a:pt x="6278" y="154601"/>
                    <a:pt x="0" y="139444"/>
                    <a:pt x="0" y="123639"/>
                  </a:cubicBezTo>
                  <a:lnTo>
                    <a:pt x="0" y="59592"/>
                  </a:lnTo>
                  <a:cubicBezTo>
                    <a:pt x="0" y="43787"/>
                    <a:pt x="6278" y="28630"/>
                    <a:pt x="17454" y="17454"/>
                  </a:cubicBezTo>
                  <a:cubicBezTo>
                    <a:pt x="28630" y="6278"/>
                    <a:pt x="43787" y="0"/>
                    <a:pt x="59592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5039" cy="221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16838" y="357068"/>
            <a:ext cx="2037574" cy="2037574"/>
          </a:xfrm>
          <a:custGeom>
            <a:avLst/>
            <a:gdLst/>
            <a:ahLst/>
            <a:cxnLst/>
            <a:rect r="r" b="b" t="t" l="l"/>
            <a:pathLst>
              <a:path h="2037574" w="2037574">
                <a:moveTo>
                  <a:pt x="0" y="0"/>
                </a:moveTo>
                <a:lnTo>
                  <a:pt x="2037573" y="0"/>
                </a:lnTo>
                <a:lnTo>
                  <a:pt x="2037573" y="2037573"/>
                </a:lnTo>
                <a:lnTo>
                  <a:pt x="0" y="2037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24354" y="7549626"/>
            <a:ext cx="2139731" cy="2139731"/>
          </a:xfrm>
          <a:custGeom>
            <a:avLst/>
            <a:gdLst/>
            <a:ahLst/>
            <a:cxnLst/>
            <a:rect r="r" b="b" t="t" l="l"/>
            <a:pathLst>
              <a:path h="2139731" w="2139731">
                <a:moveTo>
                  <a:pt x="0" y="0"/>
                </a:moveTo>
                <a:lnTo>
                  <a:pt x="2139730" y="0"/>
                </a:lnTo>
                <a:lnTo>
                  <a:pt x="2139730" y="2139730"/>
                </a:lnTo>
                <a:lnTo>
                  <a:pt x="0" y="2139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719191" y="2874551"/>
            <a:ext cx="2583574" cy="907364"/>
            <a:chOff x="0" y="0"/>
            <a:chExt cx="680448" cy="2389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448" cy="238977"/>
            </a:xfrm>
            <a:custGeom>
              <a:avLst/>
              <a:gdLst/>
              <a:ahLst/>
              <a:cxnLst/>
              <a:rect r="r" b="b" t="t" l="l"/>
              <a:pathLst>
                <a:path h="238977" w="680448">
                  <a:moveTo>
                    <a:pt x="0" y="0"/>
                  </a:moveTo>
                  <a:lnTo>
                    <a:pt x="680448" y="0"/>
                  </a:lnTo>
                  <a:lnTo>
                    <a:pt x="680448" y="238977"/>
                  </a:lnTo>
                  <a:lnTo>
                    <a:pt x="0" y="238977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0448" cy="277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83900" y="3705715"/>
            <a:ext cx="6920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PROYECTO: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83900" y="4889447"/>
            <a:ext cx="6920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ATHLETIA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78404" y="6389316"/>
            <a:ext cx="6331192" cy="54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31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PRESENTACIÓN FINAL CAPSTONE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74041" y="2931938"/>
            <a:ext cx="2673874" cy="84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9"/>
              </a:lnSpc>
            </a:pPr>
            <a:r>
              <a:rPr lang="en-US" sz="4914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44930"/>
            <a:ext cx="4056184" cy="10287000"/>
            <a:chOff x="0" y="0"/>
            <a:chExt cx="106829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82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68295">
                  <a:moveTo>
                    <a:pt x="0" y="0"/>
                  </a:moveTo>
                  <a:lnTo>
                    <a:pt x="1068295" y="0"/>
                  </a:lnTo>
                  <a:lnTo>
                    <a:pt x="10682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682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6211" y="5150396"/>
            <a:ext cx="2543762" cy="2543762"/>
          </a:xfrm>
          <a:custGeom>
            <a:avLst/>
            <a:gdLst/>
            <a:ahLst/>
            <a:cxnLst/>
            <a:rect r="r" b="b" t="t" l="l"/>
            <a:pathLst>
              <a:path h="2543762" w="2543762">
                <a:moveTo>
                  <a:pt x="0" y="0"/>
                </a:moveTo>
                <a:lnTo>
                  <a:pt x="2543762" y="0"/>
                </a:lnTo>
                <a:lnTo>
                  <a:pt x="2543762" y="2543761"/>
                </a:lnTo>
                <a:lnTo>
                  <a:pt x="0" y="2543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35678" y="2571750"/>
            <a:ext cx="3467100" cy="4592185"/>
          </a:xfrm>
          <a:custGeom>
            <a:avLst/>
            <a:gdLst/>
            <a:ahLst/>
            <a:cxnLst/>
            <a:rect r="r" b="b" t="t" l="l"/>
            <a:pathLst>
              <a:path h="4592185" w="3467100">
                <a:moveTo>
                  <a:pt x="0" y="0"/>
                </a:moveTo>
                <a:lnTo>
                  <a:pt x="3467100" y="0"/>
                </a:lnTo>
                <a:lnTo>
                  <a:pt x="3467100" y="4592185"/>
                </a:lnTo>
                <a:lnTo>
                  <a:pt x="0" y="4592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43659" y="2714310"/>
            <a:ext cx="3459386" cy="4500014"/>
          </a:xfrm>
          <a:custGeom>
            <a:avLst/>
            <a:gdLst/>
            <a:ahLst/>
            <a:cxnLst/>
            <a:rect r="r" b="b" t="t" l="l"/>
            <a:pathLst>
              <a:path h="4500014" w="3459386">
                <a:moveTo>
                  <a:pt x="0" y="0"/>
                </a:moveTo>
                <a:lnTo>
                  <a:pt x="3459387" y="0"/>
                </a:lnTo>
                <a:lnTo>
                  <a:pt x="3459387" y="4500014"/>
                </a:lnTo>
                <a:lnTo>
                  <a:pt x="0" y="4500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048300" y="6858583"/>
            <a:ext cx="3441856" cy="2374861"/>
            <a:chOff x="0" y="0"/>
            <a:chExt cx="906497" cy="6254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497" cy="625478"/>
            </a:xfrm>
            <a:custGeom>
              <a:avLst/>
              <a:gdLst/>
              <a:ahLst/>
              <a:cxnLst/>
              <a:rect r="r" b="b" t="t" l="l"/>
              <a:pathLst>
                <a:path h="625478" w="906497">
                  <a:moveTo>
                    <a:pt x="114717" y="0"/>
                  </a:moveTo>
                  <a:lnTo>
                    <a:pt x="791781" y="0"/>
                  </a:lnTo>
                  <a:cubicBezTo>
                    <a:pt x="855137" y="0"/>
                    <a:pt x="906497" y="51360"/>
                    <a:pt x="906497" y="114717"/>
                  </a:cubicBezTo>
                  <a:lnTo>
                    <a:pt x="906497" y="510761"/>
                  </a:lnTo>
                  <a:cubicBezTo>
                    <a:pt x="906497" y="541186"/>
                    <a:pt x="894411" y="570365"/>
                    <a:pt x="872897" y="591878"/>
                  </a:cubicBezTo>
                  <a:cubicBezTo>
                    <a:pt x="851384" y="613392"/>
                    <a:pt x="822205" y="625478"/>
                    <a:pt x="791781" y="625478"/>
                  </a:cubicBezTo>
                  <a:lnTo>
                    <a:pt x="114717" y="625478"/>
                  </a:lnTo>
                  <a:cubicBezTo>
                    <a:pt x="84292" y="625478"/>
                    <a:pt x="55113" y="613392"/>
                    <a:pt x="33600" y="591878"/>
                  </a:cubicBezTo>
                  <a:cubicBezTo>
                    <a:pt x="12086" y="570365"/>
                    <a:pt x="0" y="541186"/>
                    <a:pt x="0" y="510761"/>
                  </a:cubicBezTo>
                  <a:lnTo>
                    <a:pt x="0" y="114717"/>
                  </a:lnTo>
                  <a:cubicBezTo>
                    <a:pt x="0" y="84292"/>
                    <a:pt x="12086" y="55113"/>
                    <a:pt x="33600" y="33600"/>
                  </a:cubicBezTo>
                  <a:cubicBezTo>
                    <a:pt x="55113" y="12086"/>
                    <a:pt x="84292" y="0"/>
                    <a:pt x="114717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497" cy="663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9833" y="1033295"/>
            <a:ext cx="333124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561933" y="2617835"/>
            <a:ext cx="3459386" cy="4500014"/>
          </a:xfrm>
          <a:custGeom>
            <a:avLst/>
            <a:gdLst/>
            <a:ahLst/>
            <a:cxnLst/>
            <a:rect r="r" b="b" t="t" l="l"/>
            <a:pathLst>
              <a:path h="4500014" w="3459386">
                <a:moveTo>
                  <a:pt x="0" y="0"/>
                </a:moveTo>
                <a:lnTo>
                  <a:pt x="3459386" y="0"/>
                </a:lnTo>
                <a:lnTo>
                  <a:pt x="3459386" y="4500015"/>
                </a:lnTo>
                <a:lnTo>
                  <a:pt x="0" y="45000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488626" y="6858583"/>
            <a:ext cx="3616471" cy="2399717"/>
            <a:chOff x="0" y="0"/>
            <a:chExt cx="952486" cy="6320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486" cy="632024"/>
            </a:xfrm>
            <a:custGeom>
              <a:avLst/>
              <a:gdLst/>
              <a:ahLst/>
              <a:cxnLst/>
              <a:rect r="r" b="b" t="t" l="l"/>
              <a:pathLst>
                <a:path h="632024" w="952486">
                  <a:moveTo>
                    <a:pt x="109178" y="0"/>
                  </a:moveTo>
                  <a:lnTo>
                    <a:pt x="843309" y="0"/>
                  </a:lnTo>
                  <a:cubicBezTo>
                    <a:pt x="872264" y="0"/>
                    <a:pt x="900034" y="11503"/>
                    <a:pt x="920509" y="31977"/>
                  </a:cubicBezTo>
                  <a:cubicBezTo>
                    <a:pt x="940984" y="52452"/>
                    <a:pt x="952486" y="80222"/>
                    <a:pt x="952486" y="109178"/>
                  </a:cubicBezTo>
                  <a:lnTo>
                    <a:pt x="952486" y="522847"/>
                  </a:lnTo>
                  <a:cubicBezTo>
                    <a:pt x="952486" y="583144"/>
                    <a:pt x="903606" y="632024"/>
                    <a:pt x="843309" y="632024"/>
                  </a:cubicBezTo>
                  <a:lnTo>
                    <a:pt x="109178" y="632024"/>
                  </a:lnTo>
                  <a:cubicBezTo>
                    <a:pt x="48881" y="632024"/>
                    <a:pt x="0" y="583144"/>
                    <a:pt x="0" y="522847"/>
                  </a:cubicBezTo>
                  <a:lnTo>
                    <a:pt x="0" y="109178"/>
                  </a:lnTo>
                  <a:cubicBezTo>
                    <a:pt x="0" y="48881"/>
                    <a:pt x="48881" y="0"/>
                    <a:pt x="109178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52486" cy="670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43659" y="6877539"/>
            <a:ext cx="3459386" cy="2380761"/>
            <a:chOff x="0" y="0"/>
            <a:chExt cx="911114" cy="6270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1114" cy="627032"/>
            </a:xfrm>
            <a:custGeom>
              <a:avLst/>
              <a:gdLst/>
              <a:ahLst/>
              <a:cxnLst/>
              <a:rect r="r" b="b" t="t" l="l"/>
              <a:pathLst>
                <a:path h="627032" w="911114">
                  <a:moveTo>
                    <a:pt x="114135" y="0"/>
                  </a:moveTo>
                  <a:lnTo>
                    <a:pt x="796979" y="0"/>
                  </a:lnTo>
                  <a:cubicBezTo>
                    <a:pt x="860014" y="0"/>
                    <a:pt x="911114" y="51100"/>
                    <a:pt x="911114" y="114135"/>
                  </a:cubicBezTo>
                  <a:lnTo>
                    <a:pt x="911114" y="512897"/>
                  </a:lnTo>
                  <a:cubicBezTo>
                    <a:pt x="911114" y="543167"/>
                    <a:pt x="899089" y="572198"/>
                    <a:pt x="877685" y="593602"/>
                  </a:cubicBezTo>
                  <a:cubicBezTo>
                    <a:pt x="856280" y="615007"/>
                    <a:pt x="827249" y="627032"/>
                    <a:pt x="796979" y="627032"/>
                  </a:cubicBezTo>
                  <a:lnTo>
                    <a:pt x="114135" y="627032"/>
                  </a:lnTo>
                  <a:cubicBezTo>
                    <a:pt x="83865" y="627032"/>
                    <a:pt x="54834" y="615007"/>
                    <a:pt x="33429" y="593602"/>
                  </a:cubicBezTo>
                  <a:cubicBezTo>
                    <a:pt x="12025" y="572198"/>
                    <a:pt x="0" y="543167"/>
                    <a:pt x="0" y="512897"/>
                  </a:cubicBezTo>
                  <a:lnTo>
                    <a:pt x="0" y="114135"/>
                  </a:lnTo>
                  <a:cubicBezTo>
                    <a:pt x="0" y="83865"/>
                    <a:pt x="12025" y="54834"/>
                    <a:pt x="33429" y="33429"/>
                  </a:cubicBezTo>
                  <a:cubicBezTo>
                    <a:pt x="54834" y="12025"/>
                    <a:pt x="83865" y="0"/>
                    <a:pt x="114135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1114" cy="665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010535" y="6820483"/>
            <a:ext cx="3555033" cy="39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Gabriel Verdejo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18955" y="6945169"/>
            <a:ext cx="3555033" cy="39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Bruno Moreno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71772" y="6964125"/>
            <a:ext cx="3555033" cy="39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Jonathan Gaete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85261" y="7272952"/>
            <a:ext cx="3005582" cy="28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  <a:spcBef>
                <a:spcPct val="0"/>
              </a:spcBef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 Owner(PO)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90045" y="7397639"/>
            <a:ext cx="3005582" cy="28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  <a:spcBef>
                <a:spcPct val="0"/>
              </a:spcBef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Scrum Master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23379" y="7416595"/>
            <a:ext cx="3005582" cy="28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  <a:spcBef>
                <a:spcPct val="0"/>
              </a:spcBef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Developer Team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560196" y="2624284"/>
            <a:ext cx="3459386" cy="4500014"/>
          </a:xfrm>
          <a:custGeom>
            <a:avLst/>
            <a:gdLst/>
            <a:ahLst/>
            <a:cxnLst/>
            <a:rect r="r" b="b" t="t" l="l"/>
            <a:pathLst>
              <a:path h="4500014" w="3459386">
                <a:moveTo>
                  <a:pt x="0" y="0"/>
                </a:moveTo>
                <a:lnTo>
                  <a:pt x="3459386" y="0"/>
                </a:lnTo>
                <a:lnTo>
                  <a:pt x="3459386" y="4500014"/>
                </a:lnTo>
                <a:lnTo>
                  <a:pt x="0" y="4500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560196" y="6787512"/>
            <a:ext cx="3459386" cy="2470788"/>
            <a:chOff x="0" y="0"/>
            <a:chExt cx="911114" cy="6507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1114" cy="650742"/>
            </a:xfrm>
            <a:custGeom>
              <a:avLst/>
              <a:gdLst/>
              <a:ahLst/>
              <a:cxnLst/>
              <a:rect r="r" b="b" t="t" l="l"/>
              <a:pathLst>
                <a:path h="650742" w="911114">
                  <a:moveTo>
                    <a:pt x="114135" y="0"/>
                  </a:moveTo>
                  <a:lnTo>
                    <a:pt x="796979" y="0"/>
                  </a:lnTo>
                  <a:cubicBezTo>
                    <a:pt x="860014" y="0"/>
                    <a:pt x="911114" y="51100"/>
                    <a:pt x="911114" y="114135"/>
                  </a:cubicBezTo>
                  <a:lnTo>
                    <a:pt x="911114" y="536607"/>
                  </a:lnTo>
                  <a:cubicBezTo>
                    <a:pt x="911114" y="566878"/>
                    <a:pt x="899089" y="595909"/>
                    <a:pt x="877685" y="617313"/>
                  </a:cubicBezTo>
                  <a:cubicBezTo>
                    <a:pt x="856280" y="638718"/>
                    <a:pt x="827249" y="650742"/>
                    <a:pt x="796979" y="650742"/>
                  </a:cubicBezTo>
                  <a:lnTo>
                    <a:pt x="114135" y="650742"/>
                  </a:lnTo>
                  <a:cubicBezTo>
                    <a:pt x="83865" y="650742"/>
                    <a:pt x="54834" y="638718"/>
                    <a:pt x="33429" y="617313"/>
                  </a:cubicBezTo>
                  <a:cubicBezTo>
                    <a:pt x="12025" y="595909"/>
                    <a:pt x="0" y="566878"/>
                    <a:pt x="0" y="536607"/>
                  </a:cubicBezTo>
                  <a:lnTo>
                    <a:pt x="0" y="114135"/>
                  </a:lnTo>
                  <a:cubicBezTo>
                    <a:pt x="0" y="83865"/>
                    <a:pt x="12025" y="54834"/>
                    <a:pt x="33429" y="33429"/>
                  </a:cubicBezTo>
                  <a:cubicBezTo>
                    <a:pt x="54834" y="12025"/>
                    <a:pt x="83865" y="0"/>
                    <a:pt x="114135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1114" cy="688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688308" y="6874099"/>
            <a:ext cx="3555033" cy="39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Gonzalo Monreal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39916" y="7326568"/>
            <a:ext cx="3005582" cy="28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  <a:spcBef>
                <a:spcPct val="0"/>
              </a:spcBef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Developer Team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85261" y="7664117"/>
            <a:ext cx="3005582" cy="120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Analista funcional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fullstack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 de datos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Integración de IA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94071" y="7741178"/>
            <a:ext cx="3005582" cy="120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Facilitador Scrum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Analista funcional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QA y control de calidad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documental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09897" y="7760134"/>
            <a:ext cx="3005582" cy="120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fullstack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QA tecnico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documental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025723" y="7779090"/>
            <a:ext cx="3005582" cy="120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backend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UI/UX Specialist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Diseñador funcional</a:t>
            </a:r>
          </a:p>
          <a:p>
            <a:pPr algn="l" marL="370931" indent="-185466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 visual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235527" y="335748"/>
            <a:ext cx="6920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ATHLETIA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5715" y="-29633"/>
            <a:ext cx="15712285" cy="2116667"/>
            <a:chOff x="0" y="0"/>
            <a:chExt cx="4138215" cy="557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8215" cy="557476"/>
            </a:xfrm>
            <a:custGeom>
              <a:avLst/>
              <a:gdLst/>
              <a:ahLst/>
              <a:cxnLst/>
              <a:rect r="r" b="b" t="t" l="l"/>
              <a:pathLst>
                <a:path h="557476" w="4138215">
                  <a:moveTo>
                    <a:pt x="0" y="0"/>
                  </a:moveTo>
                  <a:lnTo>
                    <a:pt x="4138215" y="0"/>
                  </a:lnTo>
                  <a:lnTo>
                    <a:pt x="4138215" y="557476"/>
                  </a:lnTo>
                  <a:lnTo>
                    <a:pt x="0" y="557476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8215" cy="59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817" y="0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4" y="0"/>
                </a:lnTo>
                <a:lnTo>
                  <a:pt x="2087034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82380" y="8199967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3" y="0"/>
                </a:lnTo>
                <a:lnTo>
                  <a:pt x="2087033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66533" y="70216"/>
            <a:ext cx="12387754" cy="353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80"/>
              </a:lnSpc>
            </a:pPr>
            <a:r>
              <a:rPr lang="en-US" b="true" sz="1012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  <a:p>
            <a:pPr algn="just">
              <a:lnSpc>
                <a:spcPts val="1418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17829" y="4374776"/>
            <a:ext cx="6970644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7503E"/>
                </a:solidFill>
                <a:latin typeface="Emmali"/>
                <a:ea typeface="Emmali"/>
                <a:cs typeface="Emmali"/>
                <a:sym typeface="Emmali"/>
              </a:rPr>
              <a:t>Los usuarios no cuentan con una plataforma integral que combine rutinas personalizadas, seguimiento de progreso, nutrición, calendario y funciones sociales dentro de un mismo sistema.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7503E"/>
                </a:solidFill>
                <a:latin typeface="Emmali"/>
                <a:ea typeface="Emmali"/>
                <a:cs typeface="Emmali"/>
                <a:sym typeface="Emmali"/>
              </a:rPr>
              <a:t> La información está dispersa, cuesta organizar entrenamientos, y no existe una herramienta que entregue recomendaciones reales basadas en datos del usuario.</a:t>
            </a: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138585" y="2982973"/>
            <a:ext cx="5529133" cy="125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0"/>
              </a:lnSpc>
            </a:pPr>
            <a:r>
              <a:rPr lang="en-US" sz="735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8656" y="4374776"/>
            <a:ext cx="6970644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7503E"/>
                </a:solidFill>
                <a:latin typeface="Emmali"/>
                <a:ea typeface="Emmali"/>
                <a:cs typeface="Emmali"/>
                <a:sym typeface="Emmali"/>
              </a:rPr>
              <a:t>AthletIA unifica todo en una sola plataforma: IA predictiva para rutinas personalizadas, registro de progreso, dashboard de salud, calendario inteligente, sistema social y diseño responsivo.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7503E"/>
                </a:solidFill>
                <a:latin typeface="Emmali"/>
                <a:ea typeface="Emmali"/>
                <a:cs typeface="Emmali"/>
                <a:sym typeface="Emmali"/>
              </a:rPr>
              <a:t> El usuario accede a recomendaciones automáticas, métricas reales y herramientas que facilitan alcanzar sus objetivos de forma organizada y guiada.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09411" y="2982973"/>
            <a:ext cx="5529133" cy="125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0"/>
              </a:lnSpc>
            </a:pPr>
            <a:r>
              <a:rPr lang="en-US" sz="735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SOLUCIÓN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5715" y="-29633"/>
            <a:ext cx="15712285" cy="2116667"/>
            <a:chOff x="0" y="0"/>
            <a:chExt cx="4138215" cy="557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8215" cy="557476"/>
            </a:xfrm>
            <a:custGeom>
              <a:avLst/>
              <a:gdLst/>
              <a:ahLst/>
              <a:cxnLst/>
              <a:rect r="r" b="b" t="t" l="l"/>
              <a:pathLst>
                <a:path h="557476" w="4138215">
                  <a:moveTo>
                    <a:pt x="0" y="0"/>
                  </a:moveTo>
                  <a:lnTo>
                    <a:pt x="4138215" y="0"/>
                  </a:lnTo>
                  <a:lnTo>
                    <a:pt x="4138215" y="557476"/>
                  </a:lnTo>
                  <a:lnTo>
                    <a:pt x="0" y="557476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8215" cy="59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817" y="0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4" y="0"/>
                </a:lnTo>
                <a:lnTo>
                  <a:pt x="2087034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82380" y="8199967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3" y="0"/>
                </a:lnTo>
                <a:lnTo>
                  <a:pt x="2087033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9209" y="2808528"/>
            <a:ext cx="6060481" cy="606048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9381" y="0"/>
                  </a:moveTo>
                  <a:lnTo>
                    <a:pt x="783419" y="0"/>
                  </a:lnTo>
                  <a:cubicBezTo>
                    <a:pt x="791211" y="0"/>
                    <a:pt x="798684" y="3096"/>
                    <a:pt x="804194" y="8606"/>
                  </a:cubicBezTo>
                  <a:cubicBezTo>
                    <a:pt x="809705" y="14116"/>
                    <a:pt x="812800" y="21589"/>
                    <a:pt x="812800" y="29381"/>
                  </a:cubicBezTo>
                  <a:lnTo>
                    <a:pt x="812800" y="783419"/>
                  </a:lnTo>
                  <a:cubicBezTo>
                    <a:pt x="812800" y="791211"/>
                    <a:pt x="809705" y="798684"/>
                    <a:pt x="804194" y="804194"/>
                  </a:cubicBezTo>
                  <a:cubicBezTo>
                    <a:pt x="798684" y="809705"/>
                    <a:pt x="791211" y="812800"/>
                    <a:pt x="783419" y="812800"/>
                  </a:cubicBezTo>
                  <a:lnTo>
                    <a:pt x="29381" y="812800"/>
                  </a:lnTo>
                  <a:cubicBezTo>
                    <a:pt x="21589" y="812800"/>
                    <a:pt x="14116" y="809705"/>
                    <a:pt x="8606" y="804194"/>
                  </a:cubicBezTo>
                  <a:cubicBezTo>
                    <a:pt x="3096" y="798684"/>
                    <a:pt x="0" y="791211"/>
                    <a:pt x="0" y="783419"/>
                  </a:cubicBezTo>
                  <a:lnTo>
                    <a:pt x="0" y="29381"/>
                  </a:lnTo>
                  <a:cubicBezTo>
                    <a:pt x="0" y="21589"/>
                    <a:pt x="3096" y="14116"/>
                    <a:pt x="8606" y="8606"/>
                  </a:cubicBezTo>
                  <a:cubicBezTo>
                    <a:pt x="14116" y="3096"/>
                    <a:pt x="21589" y="0"/>
                    <a:pt x="29381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7831" r="0" b="-4226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166533" y="70216"/>
            <a:ext cx="12387754" cy="172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80"/>
              </a:lnSpc>
            </a:pPr>
            <a:r>
              <a:rPr lang="en-US" sz="101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1706" y="6078058"/>
            <a:ext cx="9469466" cy="306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863" indent="-313432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C326D"/>
                </a:solidFill>
                <a:latin typeface="Emmali"/>
                <a:ea typeface="Emmali"/>
                <a:cs typeface="Emmali"/>
                <a:sym typeface="Emmali"/>
              </a:rPr>
              <a:t>Diseñar y desarrollar la arquitectura del sistema, incluyendo frontend, backend y base de datos.</a:t>
            </a:r>
          </a:p>
          <a:p>
            <a:pPr algn="l" marL="626863" indent="-313432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C326D"/>
                </a:solidFill>
                <a:latin typeface="Emmali"/>
                <a:ea typeface="Emmali"/>
                <a:cs typeface="Emmali"/>
                <a:sym typeface="Emmali"/>
              </a:rPr>
              <a:t>Implementar un modelo predictivo que recomiende rutinas de entrenamiento personalizadas.</a:t>
            </a:r>
          </a:p>
          <a:p>
            <a:pPr algn="l" marL="626863" indent="-313432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C326D"/>
                </a:solidFill>
                <a:latin typeface="Emmali"/>
                <a:ea typeface="Emmali"/>
                <a:cs typeface="Emmali"/>
                <a:sym typeface="Emmali"/>
              </a:rPr>
              <a:t>Crear funcionalidades interactivas y sociales que mejoren la experiencia del usuario.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51706" y="5076825"/>
            <a:ext cx="6759653" cy="70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3"/>
              </a:lnSpc>
            </a:pPr>
            <a:r>
              <a:rPr lang="en-US" sz="4081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OBJETIVOS ESPECIFICOS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51706" y="2769267"/>
            <a:ext cx="9469466" cy="204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4"/>
              </a:lnSpc>
            </a:pPr>
            <a:r>
              <a:rPr lang="en-US" sz="2903">
                <a:solidFill>
                  <a:srgbClr val="0C326D"/>
                </a:solidFill>
                <a:latin typeface="Emmali"/>
                <a:ea typeface="Emmali"/>
                <a:cs typeface="Emmali"/>
                <a:sym typeface="Emmali"/>
              </a:rPr>
              <a:t>Desarrollar una pagina web integral que combine entrenamiento, nutrición y recomendaciones inteligentes basadas en datos, permitiendo a los usuarios gestionar su progreso físico, recibir orientación personalizada.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51706" y="2102570"/>
            <a:ext cx="6759653" cy="70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3"/>
              </a:lnSpc>
            </a:pPr>
            <a:r>
              <a:rPr lang="en-US" sz="4081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OBJETIVOS GENERALES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10" t="0" r="-1081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86543" y="2057400"/>
            <a:ext cx="13544057" cy="6416605"/>
            <a:chOff x="0" y="0"/>
            <a:chExt cx="3567159" cy="16899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67159" cy="1689970"/>
            </a:xfrm>
            <a:custGeom>
              <a:avLst/>
              <a:gdLst/>
              <a:ahLst/>
              <a:cxnLst/>
              <a:rect r="r" b="b" t="t" l="l"/>
              <a:pathLst>
                <a:path h="1689970" w="3567159">
                  <a:moveTo>
                    <a:pt x="0" y="0"/>
                  </a:moveTo>
                  <a:lnTo>
                    <a:pt x="3567159" y="0"/>
                  </a:lnTo>
                  <a:lnTo>
                    <a:pt x="3567159" y="1689970"/>
                  </a:lnTo>
                  <a:lnTo>
                    <a:pt x="0" y="1689970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67159" cy="172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2647163"/>
            <a:ext cx="6255117" cy="7639837"/>
          </a:xfrm>
          <a:custGeom>
            <a:avLst/>
            <a:gdLst/>
            <a:ahLst/>
            <a:cxnLst/>
            <a:rect r="r" b="b" t="t" l="l"/>
            <a:pathLst>
              <a:path h="7639837" w="6255117">
                <a:moveTo>
                  <a:pt x="0" y="0"/>
                </a:moveTo>
                <a:lnTo>
                  <a:pt x="6255117" y="0"/>
                </a:lnTo>
                <a:lnTo>
                  <a:pt x="6255117" y="7639837"/>
                </a:lnTo>
                <a:lnTo>
                  <a:pt x="0" y="7639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27558" y="3940954"/>
            <a:ext cx="12249506" cy="438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esarrollo de una plataforma web funcional con frontend, backend y base de datos integrada.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Implementación de un modelo predictivo capaz de recomendar rutinas según parámetros del usuario.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Creación de funciones sociales: publicaciones, comentarios y favoritos.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Integración de un mapa corporal interactivo y un calendario de rutinas.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datos relacional completa para usuarios, ejercicios, rutinas, progreso y nutrición.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 de autenticación, perfiles y registro de actividades.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 completa: requerimientos, sprints, bitácoras, evidencias y pruebas.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2032883" y="0"/>
            <a:ext cx="6255117" cy="7639837"/>
          </a:xfrm>
          <a:custGeom>
            <a:avLst/>
            <a:gdLst/>
            <a:ahLst/>
            <a:cxnLst/>
            <a:rect r="r" b="b" t="t" l="l"/>
            <a:pathLst>
              <a:path h="7639837" w="6255117">
                <a:moveTo>
                  <a:pt x="6255117" y="7639837"/>
                </a:moveTo>
                <a:lnTo>
                  <a:pt x="0" y="7639837"/>
                </a:lnTo>
                <a:lnTo>
                  <a:pt x="0" y="0"/>
                </a:lnTo>
                <a:lnTo>
                  <a:pt x="6255117" y="0"/>
                </a:lnTo>
                <a:lnTo>
                  <a:pt x="6255117" y="763983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2713640"/>
            <a:ext cx="9570581" cy="888674"/>
            <a:chOff x="0" y="0"/>
            <a:chExt cx="2520647" cy="2340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20647" cy="234054"/>
            </a:xfrm>
            <a:custGeom>
              <a:avLst/>
              <a:gdLst/>
              <a:ahLst/>
              <a:cxnLst/>
              <a:rect r="r" b="b" t="t" l="l"/>
              <a:pathLst>
                <a:path h="234054" w="2520647">
                  <a:moveTo>
                    <a:pt x="0" y="0"/>
                  </a:moveTo>
                  <a:lnTo>
                    <a:pt x="2520647" y="0"/>
                  </a:lnTo>
                  <a:lnTo>
                    <a:pt x="2520647" y="234054"/>
                  </a:lnTo>
                  <a:lnTo>
                    <a:pt x="0" y="2340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20647" cy="272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54508" y="2599340"/>
            <a:ext cx="7158366" cy="100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2"/>
              </a:lnSpc>
              <a:spcBef>
                <a:spcPct val="0"/>
              </a:spcBef>
            </a:pPr>
            <a:r>
              <a:rPr lang="en-US" sz="5887">
                <a:solidFill>
                  <a:srgbClr val="0C326D"/>
                </a:solidFill>
                <a:latin typeface="Open Sans"/>
                <a:ea typeface="Open Sans"/>
                <a:cs typeface="Open Sans"/>
                <a:sym typeface="Open Sans"/>
              </a:rPr>
              <a:t>ALCANCES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2306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374735" y="162895"/>
            <a:ext cx="3711731" cy="123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7"/>
              </a:lnSpc>
              <a:spcBef>
                <a:spcPct val="0"/>
              </a:spcBef>
            </a:pPr>
            <a:r>
              <a:rPr lang="en-US" b="true" sz="72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10" t="0" r="-1081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86543" y="2057400"/>
            <a:ext cx="13058932" cy="6398327"/>
            <a:chOff x="0" y="0"/>
            <a:chExt cx="3439390" cy="16851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9390" cy="1685156"/>
            </a:xfrm>
            <a:custGeom>
              <a:avLst/>
              <a:gdLst/>
              <a:ahLst/>
              <a:cxnLst/>
              <a:rect r="r" b="b" t="t" l="l"/>
              <a:pathLst>
                <a:path h="1685156" w="3439390">
                  <a:moveTo>
                    <a:pt x="0" y="0"/>
                  </a:moveTo>
                  <a:lnTo>
                    <a:pt x="3439390" y="0"/>
                  </a:lnTo>
                  <a:lnTo>
                    <a:pt x="3439390" y="1685156"/>
                  </a:lnTo>
                  <a:lnTo>
                    <a:pt x="0" y="1685156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9390" cy="1723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2647163"/>
            <a:ext cx="6255117" cy="7639837"/>
          </a:xfrm>
          <a:custGeom>
            <a:avLst/>
            <a:gdLst/>
            <a:ahLst/>
            <a:cxnLst/>
            <a:rect r="r" b="b" t="t" l="l"/>
            <a:pathLst>
              <a:path h="7639837" w="6255117">
                <a:moveTo>
                  <a:pt x="0" y="0"/>
                </a:moveTo>
                <a:lnTo>
                  <a:pt x="6255117" y="0"/>
                </a:lnTo>
                <a:lnTo>
                  <a:pt x="6255117" y="7639837"/>
                </a:lnTo>
                <a:lnTo>
                  <a:pt x="0" y="7639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86543" y="3328272"/>
            <a:ext cx="12914914" cy="512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  <a:spcBef>
                <a:spcPct val="0"/>
              </a:spcBef>
            </a:pPr>
          </a:p>
          <a:p>
            <a:pPr algn="l" marL="465633" indent="-232817" lvl="1">
              <a:lnSpc>
                <a:spcPts val="3019"/>
              </a:lnSpc>
              <a:spcBef>
                <a:spcPct val="0"/>
              </a:spcBef>
              <a:buFont typeface="Arial"/>
              <a:buChar char="•"/>
            </a:pPr>
            <a:r>
              <a:rPr lang="en-US" sz="21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modelo predictivo requiere más datos reales para mejorar precisión y personalización.</a:t>
            </a:r>
          </a:p>
          <a:p>
            <a:pPr algn="l" marL="465633" indent="-232817" lvl="1">
              <a:lnSpc>
                <a:spcPts val="3019"/>
              </a:lnSpc>
              <a:spcBef>
                <a:spcPct val="0"/>
              </a:spcBef>
              <a:buFont typeface="Arial"/>
              <a:buChar char="•"/>
            </a:pPr>
            <a:r>
              <a:rPr lang="en-US" sz="21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Algunas funciones avanzadas (notificaciones push, chat, métricas complejas) quedaron fuera del alcance por tiempo.</a:t>
            </a:r>
          </a:p>
          <a:p>
            <a:pPr algn="l" marL="465633" indent="-232817" lvl="1">
              <a:lnSpc>
                <a:spcPts val="3019"/>
              </a:lnSpc>
              <a:spcBef>
                <a:spcPct val="0"/>
              </a:spcBef>
              <a:buFont typeface="Arial"/>
              <a:buChar char="•"/>
            </a:pPr>
            <a:r>
              <a:rPr lang="en-US" sz="21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sistema no incluye integración con dispositivos externos (smartwatch, sensores, apps deportivas).</a:t>
            </a:r>
          </a:p>
          <a:p>
            <a:pPr algn="l" marL="465633" indent="-232817" lvl="1">
              <a:lnSpc>
                <a:spcPts val="3019"/>
              </a:lnSpc>
              <a:spcBef>
                <a:spcPct val="0"/>
              </a:spcBef>
              <a:buFont typeface="Arial"/>
              <a:buChar char="•"/>
            </a:pPr>
            <a:r>
              <a:rPr lang="en-US" sz="21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interfaz, aunque funcional, puede mejorarse en diseño UX/UI para una experiencia más fluida.</a:t>
            </a:r>
          </a:p>
          <a:p>
            <a:pPr algn="l" marL="465633" indent="-232817" lvl="1">
              <a:lnSpc>
                <a:spcPts val="3019"/>
              </a:lnSpc>
              <a:spcBef>
                <a:spcPct val="0"/>
              </a:spcBef>
              <a:buFont typeface="Arial"/>
              <a:buChar char="•"/>
            </a:pPr>
            <a:r>
              <a:rPr lang="en-US" sz="21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despliegue del sistema no incluye una infraestructura en la nube completamente optimizada.</a:t>
            </a:r>
          </a:p>
          <a:p>
            <a:pPr algn="l" marL="465633" indent="-232817" lvl="1">
              <a:lnSpc>
                <a:spcPts val="3019"/>
              </a:lnSpc>
              <a:spcBef>
                <a:spcPct val="0"/>
              </a:spcBef>
              <a:buFont typeface="Arial"/>
              <a:buChar char="•"/>
            </a:pPr>
            <a:r>
              <a:rPr lang="en-US" sz="21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integración entre IA, rutinas y calendario aún puede perfeccionarse para ser más rápida y robusta.</a:t>
            </a:r>
          </a:p>
          <a:p>
            <a:pPr algn="l">
              <a:lnSpc>
                <a:spcPts val="4559"/>
              </a:lnSpc>
              <a:spcBef>
                <a:spcPct val="0"/>
              </a:spcBef>
            </a:pPr>
          </a:p>
          <a:p>
            <a:pPr algn="l">
              <a:lnSpc>
                <a:spcPts val="455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2032883" y="0"/>
            <a:ext cx="6255117" cy="7639837"/>
          </a:xfrm>
          <a:custGeom>
            <a:avLst/>
            <a:gdLst/>
            <a:ahLst/>
            <a:cxnLst/>
            <a:rect r="r" b="b" t="t" l="l"/>
            <a:pathLst>
              <a:path h="7639837" w="6255117">
                <a:moveTo>
                  <a:pt x="6255117" y="7639837"/>
                </a:moveTo>
                <a:lnTo>
                  <a:pt x="0" y="7639837"/>
                </a:lnTo>
                <a:lnTo>
                  <a:pt x="0" y="0"/>
                </a:lnTo>
                <a:lnTo>
                  <a:pt x="6255117" y="0"/>
                </a:lnTo>
                <a:lnTo>
                  <a:pt x="6255117" y="763983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2713640"/>
            <a:ext cx="9570581" cy="888674"/>
            <a:chOff x="0" y="0"/>
            <a:chExt cx="2520647" cy="2340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20647" cy="234054"/>
            </a:xfrm>
            <a:custGeom>
              <a:avLst/>
              <a:gdLst/>
              <a:ahLst/>
              <a:cxnLst/>
              <a:rect r="r" b="b" t="t" l="l"/>
              <a:pathLst>
                <a:path h="234054" w="2520647">
                  <a:moveTo>
                    <a:pt x="0" y="0"/>
                  </a:moveTo>
                  <a:lnTo>
                    <a:pt x="2520647" y="0"/>
                  </a:lnTo>
                  <a:lnTo>
                    <a:pt x="2520647" y="234054"/>
                  </a:lnTo>
                  <a:lnTo>
                    <a:pt x="0" y="2340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20647" cy="272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54508" y="2599340"/>
            <a:ext cx="7158366" cy="100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2"/>
              </a:lnSpc>
              <a:spcBef>
                <a:spcPct val="0"/>
              </a:spcBef>
            </a:pPr>
            <a:r>
              <a:rPr lang="en-US" sz="5887">
                <a:solidFill>
                  <a:srgbClr val="0C326D"/>
                </a:solidFill>
                <a:latin typeface="Open Sans"/>
                <a:ea typeface="Open Sans"/>
                <a:cs typeface="Open Sans"/>
                <a:sym typeface="Open Sans"/>
              </a:rPr>
              <a:t>LIMITACIONES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2306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374735" y="162895"/>
            <a:ext cx="3711731" cy="123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7"/>
              </a:lnSpc>
              <a:spcBef>
                <a:spcPct val="0"/>
              </a:spcBef>
            </a:pPr>
            <a:r>
              <a:rPr lang="en-US" b="true" sz="72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89484" y="1429206"/>
            <a:ext cx="12355746" cy="7731084"/>
            <a:chOff x="0" y="0"/>
            <a:chExt cx="3852391" cy="24104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52391" cy="2410471"/>
            </a:xfrm>
            <a:custGeom>
              <a:avLst/>
              <a:gdLst/>
              <a:ahLst/>
              <a:cxnLst/>
              <a:rect r="r" b="b" t="t" l="l"/>
              <a:pathLst>
                <a:path h="2410471" w="3852391">
                  <a:moveTo>
                    <a:pt x="0" y="0"/>
                  </a:moveTo>
                  <a:lnTo>
                    <a:pt x="3852391" y="0"/>
                  </a:lnTo>
                  <a:lnTo>
                    <a:pt x="3852391" y="2410471"/>
                  </a:lnTo>
                  <a:lnTo>
                    <a:pt x="0" y="2410471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52391" cy="2448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1751588"/>
            <a:ext cx="6334846" cy="921570"/>
            <a:chOff x="0" y="0"/>
            <a:chExt cx="1975138" cy="2873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38" cy="287336"/>
            </a:xfrm>
            <a:custGeom>
              <a:avLst/>
              <a:gdLst/>
              <a:ahLst/>
              <a:cxnLst/>
              <a:rect r="r" b="b" t="t" l="l"/>
              <a:pathLst>
                <a:path h="287336" w="1975138">
                  <a:moveTo>
                    <a:pt x="0" y="0"/>
                  </a:moveTo>
                  <a:lnTo>
                    <a:pt x="1975138" y="0"/>
                  </a:lnTo>
                  <a:lnTo>
                    <a:pt x="1975138" y="287336"/>
                  </a:lnTo>
                  <a:lnTo>
                    <a:pt x="0" y="2873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75138" cy="325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23089" y="4826591"/>
            <a:ext cx="4431727" cy="4431709"/>
            <a:chOff x="0" y="0"/>
            <a:chExt cx="6350000" cy="6349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304725" y="2840798"/>
            <a:ext cx="9718364" cy="599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pr</a:t>
            </a: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oyecto se desarrolló utilizando Ágil Scrum, trabajando en Sprints semanales que permitieron iterar rápidamente, recibir retroalimentación continua y corregir errores de forma temprana.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Fases ejecutadas: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Levantamiento de requerimientos: entrevistas, análisis funcional y priorización para crear el Product Backlog.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Diseño: modelo entidad-relación, prototipos, mockups y definición de la arquitectura de backend y frontend.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iterativo: implementación del backend en Django, creación del frontend con HTML/CSS/JS, conexión a SQL Server y desarrollo del modelo predictivo.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Pruebas: validación de formularios, autenticación, endpoints, seguridad y funcionamiento general.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Documentación: elaboración de informes, evidencias y entregables de cada fase.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Pertinencia de usar Scrum: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Fue adecuado por la necesidad de adaptarse a cambios frecuentes, manejar funcionalidades complejas, trabajar de forma colaborativa y entregar avances semanales demostrables.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25581" y="1695332"/>
            <a:ext cx="5483685" cy="92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8"/>
              </a:lnSpc>
              <a:spcBef>
                <a:spcPct val="0"/>
              </a:spcBef>
            </a:pPr>
            <a:r>
              <a:rPr lang="en-US" sz="5413">
                <a:solidFill>
                  <a:srgbClr val="0C326D"/>
                </a:solidFill>
                <a:latin typeface="Open Sans"/>
                <a:ea typeface="Open Sans"/>
                <a:cs typeface="Open Sans"/>
                <a:sym typeface="Open Sans"/>
              </a:rPr>
              <a:t>METODOLOGÍA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0" y="0"/>
            <a:ext cx="1644650" cy="1644650"/>
          </a:xfrm>
          <a:custGeom>
            <a:avLst/>
            <a:gdLst/>
            <a:ahLst/>
            <a:cxnLst/>
            <a:rect r="r" b="b" t="t" l="l"/>
            <a:pathLst>
              <a:path h="1644650" w="1644650">
                <a:moveTo>
                  <a:pt x="0" y="0"/>
                </a:moveTo>
                <a:lnTo>
                  <a:pt x="1644650" y="0"/>
                </a:lnTo>
                <a:lnTo>
                  <a:pt x="1644650" y="1644650"/>
                </a:lnTo>
                <a:lnTo>
                  <a:pt x="0" y="164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2306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5715" y="-29633"/>
            <a:ext cx="15712285" cy="2116667"/>
            <a:chOff x="0" y="0"/>
            <a:chExt cx="4138215" cy="557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8215" cy="557476"/>
            </a:xfrm>
            <a:custGeom>
              <a:avLst/>
              <a:gdLst/>
              <a:ahLst/>
              <a:cxnLst/>
              <a:rect r="r" b="b" t="t" l="l"/>
              <a:pathLst>
                <a:path h="557476" w="4138215">
                  <a:moveTo>
                    <a:pt x="0" y="0"/>
                  </a:moveTo>
                  <a:lnTo>
                    <a:pt x="4138215" y="0"/>
                  </a:lnTo>
                  <a:lnTo>
                    <a:pt x="4138215" y="557476"/>
                  </a:lnTo>
                  <a:lnTo>
                    <a:pt x="0" y="557476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8215" cy="59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817" y="0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4" y="0"/>
                </a:lnTo>
                <a:lnTo>
                  <a:pt x="2087034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32713" y="8750300"/>
            <a:ext cx="1536700" cy="1536700"/>
          </a:xfrm>
          <a:custGeom>
            <a:avLst/>
            <a:gdLst/>
            <a:ahLst/>
            <a:cxnLst/>
            <a:rect r="r" b="b" t="t" l="l"/>
            <a:pathLst>
              <a:path h="1536700" w="1536700">
                <a:moveTo>
                  <a:pt x="0" y="0"/>
                </a:moveTo>
                <a:lnTo>
                  <a:pt x="1536700" y="0"/>
                </a:lnTo>
                <a:lnTo>
                  <a:pt x="15367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1943" y="2256590"/>
            <a:ext cx="17394448" cy="7697043"/>
          </a:xfrm>
          <a:custGeom>
            <a:avLst/>
            <a:gdLst/>
            <a:ahLst/>
            <a:cxnLst/>
            <a:rect r="r" b="b" t="t" l="l"/>
            <a:pathLst>
              <a:path h="7697043" w="17394448">
                <a:moveTo>
                  <a:pt x="0" y="0"/>
                </a:moveTo>
                <a:lnTo>
                  <a:pt x="17394448" y="0"/>
                </a:lnTo>
                <a:lnTo>
                  <a:pt x="17394448" y="7697043"/>
                </a:lnTo>
                <a:lnTo>
                  <a:pt x="0" y="76970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66533" y="70216"/>
            <a:ext cx="12387754" cy="172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80"/>
              </a:lnSpc>
            </a:pPr>
            <a:r>
              <a:rPr lang="en-US" sz="101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CRONOGRAMA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124980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0" y="0"/>
                </a:lnTo>
                <a:lnTo>
                  <a:pt x="4211240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89484" y="1429206"/>
            <a:ext cx="12026562" cy="6599514"/>
            <a:chOff x="0" y="0"/>
            <a:chExt cx="3749755" cy="20576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49755" cy="2057659"/>
            </a:xfrm>
            <a:custGeom>
              <a:avLst/>
              <a:gdLst/>
              <a:ahLst/>
              <a:cxnLst/>
              <a:rect r="r" b="b" t="t" l="l"/>
              <a:pathLst>
                <a:path h="2057659" w="3749755">
                  <a:moveTo>
                    <a:pt x="0" y="0"/>
                  </a:moveTo>
                  <a:lnTo>
                    <a:pt x="3749755" y="0"/>
                  </a:lnTo>
                  <a:lnTo>
                    <a:pt x="3749755" y="2057659"/>
                  </a:lnTo>
                  <a:lnTo>
                    <a:pt x="0" y="2057659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49755" cy="2095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1751588"/>
            <a:ext cx="6334846" cy="921570"/>
            <a:chOff x="0" y="0"/>
            <a:chExt cx="1975138" cy="2873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38" cy="287336"/>
            </a:xfrm>
            <a:custGeom>
              <a:avLst/>
              <a:gdLst/>
              <a:ahLst/>
              <a:cxnLst/>
              <a:rect r="r" b="b" t="t" l="l"/>
              <a:pathLst>
                <a:path h="287336" w="1975138">
                  <a:moveTo>
                    <a:pt x="0" y="0"/>
                  </a:moveTo>
                  <a:lnTo>
                    <a:pt x="1975138" y="0"/>
                  </a:lnTo>
                  <a:lnTo>
                    <a:pt x="1975138" y="287336"/>
                  </a:lnTo>
                  <a:lnTo>
                    <a:pt x="0" y="2873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75138" cy="325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23089" y="4826591"/>
            <a:ext cx="4431727" cy="4431709"/>
            <a:chOff x="0" y="0"/>
            <a:chExt cx="6350000" cy="6349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304725" y="3087725"/>
            <a:ext cx="9718364" cy="475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AthletIA se ba</a:t>
            </a:r>
            <a:r>
              <a:rPr lang="en-US" sz="26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 en una arquitectura modular Django (MVT) que integra IA, sistema social, calendario inteligente y dashboard personalizado. El backend gestiona lógica y seguridad, mientras que el frontend ofrece una experiencia moderna y responsiva. La base de datos, diseñada con un MER robusto, soporta más de 30 entidades que permiten una gestión completa del progreso, rutinas, nutrición y notificaciones. Esta arquitectura garantiza escalabilidad y un rendimiento estable.</a:t>
            </a:r>
          </a:p>
          <a:p>
            <a:pPr algn="l">
              <a:lnSpc>
                <a:spcPts val="3776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34117" y="1695332"/>
            <a:ext cx="5666613" cy="92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8"/>
              </a:lnSpc>
              <a:spcBef>
                <a:spcPct val="0"/>
              </a:spcBef>
            </a:pPr>
            <a:r>
              <a:rPr lang="en-US" sz="5413">
                <a:solidFill>
                  <a:srgbClr val="0C326D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0" y="0"/>
            <a:ext cx="1644650" cy="1644650"/>
          </a:xfrm>
          <a:custGeom>
            <a:avLst/>
            <a:gdLst/>
            <a:ahLst/>
            <a:cxnLst/>
            <a:rect r="r" b="b" t="t" l="l"/>
            <a:pathLst>
              <a:path h="1644650" w="1644650">
                <a:moveTo>
                  <a:pt x="0" y="0"/>
                </a:moveTo>
                <a:lnTo>
                  <a:pt x="1644650" y="0"/>
                </a:lnTo>
                <a:lnTo>
                  <a:pt x="1644650" y="1644650"/>
                </a:lnTo>
                <a:lnTo>
                  <a:pt x="0" y="164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2306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5715" y="-29633"/>
            <a:ext cx="15712285" cy="2116667"/>
            <a:chOff x="0" y="0"/>
            <a:chExt cx="4138215" cy="557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8215" cy="557476"/>
            </a:xfrm>
            <a:custGeom>
              <a:avLst/>
              <a:gdLst/>
              <a:ahLst/>
              <a:cxnLst/>
              <a:rect r="r" b="b" t="t" l="l"/>
              <a:pathLst>
                <a:path h="557476" w="4138215">
                  <a:moveTo>
                    <a:pt x="0" y="0"/>
                  </a:moveTo>
                  <a:lnTo>
                    <a:pt x="4138215" y="0"/>
                  </a:lnTo>
                  <a:lnTo>
                    <a:pt x="4138215" y="557476"/>
                  </a:lnTo>
                  <a:lnTo>
                    <a:pt x="0" y="557476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8215" cy="59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817" y="0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4" y="0"/>
                </a:lnTo>
                <a:lnTo>
                  <a:pt x="2087034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32713" y="8750300"/>
            <a:ext cx="1536700" cy="1536700"/>
          </a:xfrm>
          <a:custGeom>
            <a:avLst/>
            <a:gdLst/>
            <a:ahLst/>
            <a:cxnLst/>
            <a:rect r="r" b="b" t="t" l="l"/>
            <a:pathLst>
              <a:path h="1536700" w="1536700">
                <a:moveTo>
                  <a:pt x="0" y="0"/>
                </a:moveTo>
                <a:lnTo>
                  <a:pt x="1536700" y="0"/>
                </a:lnTo>
                <a:lnTo>
                  <a:pt x="15367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7631" y="2087033"/>
            <a:ext cx="17400460" cy="8199967"/>
          </a:xfrm>
          <a:custGeom>
            <a:avLst/>
            <a:gdLst/>
            <a:ahLst/>
            <a:cxnLst/>
            <a:rect r="r" b="b" t="t" l="l"/>
            <a:pathLst>
              <a:path h="8199967" w="17400460">
                <a:moveTo>
                  <a:pt x="0" y="0"/>
                </a:moveTo>
                <a:lnTo>
                  <a:pt x="17400460" y="0"/>
                </a:lnTo>
                <a:lnTo>
                  <a:pt x="17400460" y="8199967"/>
                </a:lnTo>
                <a:lnTo>
                  <a:pt x="0" y="81999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66533" y="70216"/>
            <a:ext cx="12387754" cy="172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80"/>
              </a:lnSpc>
            </a:pPr>
            <a:r>
              <a:rPr lang="en-US" sz="101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05783" y="1293283"/>
            <a:ext cx="11062351" cy="7541683"/>
            <a:chOff x="0" y="0"/>
            <a:chExt cx="2913541" cy="19862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541" cy="1986287"/>
            </a:xfrm>
            <a:custGeom>
              <a:avLst/>
              <a:gdLst/>
              <a:ahLst/>
              <a:cxnLst/>
              <a:rect r="r" b="b" t="t" l="l"/>
              <a:pathLst>
                <a:path h="1986287" w="2913541">
                  <a:moveTo>
                    <a:pt x="0" y="0"/>
                  </a:moveTo>
                  <a:lnTo>
                    <a:pt x="2913541" y="0"/>
                  </a:lnTo>
                  <a:lnTo>
                    <a:pt x="2913541" y="1986287"/>
                  </a:lnTo>
                  <a:lnTo>
                    <a:pt x="0" y="1986287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13541" cy="202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844710" y="2270051"/>
            <a:ext cx="4476256" cy="5959549"/>
            <a:chOff x="0" y="0"/>
            <a:chExt cx="3663950" cy="48780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3600450" cy="4814570"/>
            </a:xfrm>
            <a:custGeom>
              <a:avLst/>
              <a:gdLst/>
              <a:ahLst/>
              <a:cxnLst/>
              <a:rect r="r" b="b" t="t" l="l"/>
              <a:pathLst>
                <a:path h="481457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4"/>
              <a:stretch>
                <a:fillRect l="0" t="-6121" r="0" b="-6121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63950" cy="4878070"/>
            </a:xfrm>
            <a:custGeom>
              <a:avLst/>
              <a:gdLst/>
              <a:ahLst/>
              <a:cxnLst/>
              <a:rect r="r" b="b" t="t" l="l"/>
              <a:pathLst>
                <a:path h="4878070" w="366395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0C326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920849" y="1482671"/>
            <a:ext cx="11367151" cy="1022277"/>
            <a:chOff x="0" y="0"/>
            <a:chExt cx="2993817" cy="2692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93817" cy="269242"/>
            </a:xfrm>
            <a:custGeom>
              <a:avLst/>
              <a:gdLst/>
              <a:ahLst/>
              <a:cxnLst/>
              <a:rect r="r" b="b" t="t" l="l"/>
              <a:pathLst>
                <a:path h="269242" w="2993817">
                  <a:moveTo>
                    <a:pt x="0" y="0"/>
                  </a:moveTo>
                  <a:lnTo>
                    <a:pt x="2993817" y="0"/>
                  </a:lnTo>
                  <a:lnTo>
                    <a:pt x="2993817" y="269242"/>
                  </a:lnTo>
                  <a:lnTo>
                    <a:pt x="0" y="2692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993817" cy="307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599910" y="1435173"/>
            <a:ext cx="8767032" cy="100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2"/>
              </a:lnSpc>
              <a:spcBef>
                <a:spcPct val="0"/>
              </a:spcBef>
            </a:pPr>
            <a:r>
              <a:rPr lang="en-US" sz="5887">
                <a:solidFill>
                  <a:srgbClr val="0C326D"/>
                </a:solidFill>
                <a:latin typeface="Open Sans"/>
                <a:ea typeface="Open Sans"/>
                <a:cs typeface="Open Sans"/>
                <a:sym typeface="Open Sans"/>
              </a:rPr>
              <a:t>TECNOLOGÍAS USADAS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99910" y="2898268"/>
            <a:ext cx="6698234" cy="528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Python</a:t>
            </a:r>
          </a:p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Django Framework (MVT)</a:t>
            </a:r>
          </a:p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HTML5, CSS3 y JavaScript</a:t>
            </a:r>
          </a:p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Bootstrap 5</a:t>
            </a:r>
          </a:p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Base de Datos SQL SERVER MANAGEMENT STUDIO</a:t>
            </a:r>
          </a:p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TensorFlow / Keras (Modelo IA AthletIA)</a:t>
            </a:r>
          </a:p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Pandas &amp; NumPy (procesamiento de datos)</a:t>
            </a:r>
          </a:p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APIs externas (CalorieNinjas, Spoonacular)</a:t>
            </a:r>
          </a:p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FullCalendar.js (Calendario interactivo)</a:t>
            </a:r>
          </a:p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Chart.js (Gráficos del Dashboard)</a:t>
            </a:r>
          </a:p>
          <a:p>
            <a:pPr algn="l" marL="431809" indent="-215904" lvl="1">
              <a:lnSpc>
                <a:spcPts val="38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Emmali"/>
                <a:ea typeface="Emmali"/>
                <a:cs typeface="Emmali"/>
                <a:sym typeface="Emmali"/>
              </a:rPr>
              <a:t>• Git y GitHub (control de versiones)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2306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672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228522" y="-1950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29560"/>
            <a:ext cx="662152" cy="3086100"/>
            <a:chOff x="0" y="0"/>
            <a:chExt cx="174394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394" cy="812800"/>
            </a:xfrm>
            <a:custGeom>
              <a:avLst/>
              <a:gdLst/>
              <a:ahLst/>
              <a:cxnLst/>
              <a:rect r="r" b="b" t="t" l="l"/>
              <a:pathLst>
                <a:path h="812800" w="174394">
                  <a:moveTo>
                    <a:pt x="0" y="0"/>
                  </a:moveTo>
                  <a:lnTo>
                    <a:pt x="174394" y="0"/>
                  </a:lnTo>
                  <a:lnTo>
                    <a:pt x="1743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39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1655613" y="-1241534"/>
            <a:ext cx="662152" cy="3086100"/>
            <a:chOff x="0" y="0"/>
            <a:chExt cx="174394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4394" cy="812800"/>
            </a:xfrm>
            <a:custGeom>
              <a:avLst/>
              <a:gdLst/>
              <a:ahLst/>
              <a:cxnLst/>
              <a:rect r="r" b="b" t="t" l="l"/>
              <a:pathLst>
                <a:path h="812800" w="174394">
                  <a:moveTo>
                    <a:pt x="0" y="0"/>
                  </a:moveTo>
                  <a:lnTo>
                    <a:pt x="174394" y="0"/>
                  </a:lnTo>
                  <a:lnTo>
                    <a:pt x="1743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439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625848" y="7171340"/>
            <a:ext cx="662152" cy="3086100"/>
            <a:chOff x="0" y="0"/>
            <a:chExt cx="174394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394" cy="812800"/>
            </a:xfrm>
            <a:custGeom>
              <a:avLst/>
              <a:gdLst/>
              <a:ahLst/>
              <a:cxnLst/>
              <a:rect r="r" b="b" t="t" l="l"/>
              <a:pathLst>
                <a:path h="812800" w="174394">
                  <a:moveTo>
                    <a:pt x="0" y="0"/>
                  </a:moveTo>
                  <a:lnTo>
                    <a:pt x="174394" y="0"/>
                  </a:lnTo>
                  <a:lnTo>
                    <a:pt x="1743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439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6413874" y="8412874"/>
            <a:ext cx="662152" cy="3086100"/>
            <a:chOff x="0" y="0"/>
            <a:chExt cx="174394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4394" cy="812800"/>
            </a:xfrm>
            <a:custGeom>
              <a:avLst/>
              <a:gdLst/>
              <a:ahLst/>
              <a:cxnLst/>
              <a:rect r="r" b="b" t="t" l="l"/>
              <a:pathLst>
                <a:path h="812800" w="174394">
                  <a:moveTo>
                    <a:pt x="0" y="0"/>
                  </a:moveTo>
                  <a:lnTo>
                    <a:pt x="174394" y="0"/>
                  </a:lnTo>
                  <a:lnTo>
                    <a:pt x="1743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439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999140"/>
            <a:ext cx="2348740" cy="2348740"/>
          </a:xfrm>
          <a:custGeom>
            <a:avLst/>
            <a:gdLst/>
            <a:ahLst/>
            <a:cxnLst/>
            <a:rect r="r" b="b" t="t" l="l"/>
            <a:pathLst>
              <a:path h="2348740" w="2348740">
                <a:moveTo>
                  <a:pt x="0" y="0"/>
                </a:moveTo>
                <a:lnTo>
                  <a:pt x="2348740" y="0"/>
                </a:lnTo>
                <a:lnTo>
                  <a:pt x="2348740" y="2348740"/>
                </a:lnTo>
                <a:lnTo>
                  <a:pt x="0" y="2348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58261" y="6757261"/>
            <a:ext cx="2501039" cy="2501039"/>
          </a:xfrm>
          <a:custGeom>
            <a:avLst/>
            <a:gdLst/>
            <a:ahLst/>
            <a:cxnLst/>
            <a:rect r="r" b="b" t="t" l="l"/>
            <a:pathLst>
              <a:path h="2501039" w="2501039">
                <a:moveTo>
                  <a:pt x="0" y="0"/>
                </a:moveTo>
                <a:lnTo>
                  <a:pt x="2501039" y="0"/>
                </a:lnTo>
                <a:lnTo>
                  <a:pt x="2501039" y="2501039"/>
                </a:lnTo>
                <a:lnTo>
                  <a:pt x="0" y="2501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865344"/>
            <a:ext cx="16245111" cy="264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3"/>
              </a:lnSpc>
            </a:pPr>
            <a:r>
              <a:rPr lang="en-US" sz="15409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DEMOSTRACIÓN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5715" y="-29633"/>
            <a:ext cx="15712285" cy="2116667"/>
            <a:chOff x="0" y="0"/>
            <a:chExt cx="4138215" cy="557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8215" cy="557476"/>
            </a:xfrm>
            <a:custGeom>
              <a:avLst/>
              <a:gdLst/>
              <a:ahLst/>
              <a:cxnLst/>
              <a:rect r="r" b="b" t="t" l="l"/>
              <a:pathLst>
                <a:path h="557476" w="4138215">
                  <a:moveTo>
                    <a:pt x="0" y="0"/>
                  </a:moveTo>
                  <a:lnTo>
                    <a:pt x="4138215" y="0"/>
                  </a:lnTo>
                  <a:lnTo>
                    <a:pt x="4138215" y="557476"/>
                  </a:lnTo>
                  <a:lnTo>
                    <a:pt x="0" y="557476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8215" cy="59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076759" y="0"/>
            <a:ext cx="4211241" cy="5143500"/>
          </a:xfrm>
          <a:custGeom>
            <a:avLst/>
            <a:gdLst/>
            <a:ahLst/>
            <a:cxnLst/>
            <a:rect r="r" b="b" t="t" l="l"/>
            <a:pathLst>
              <a:path h="5143500" w="4211241">
                <a:moveTo>
                  <a:pt x="4211241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4211241" y="0"/>
                </a:lnTo>
                <a:lnTo>
                  <a:pt x="4211241" y="51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657138"/>
            <a:ext cx="4609449" cy="5629862"/>
          </a:xfrm>
          <a:custGeom>
            <a:avLst/>
            <a:gdLst/>
            <a:ahLst/>
            <a:cxnLst/>
            <a:rect r="r" b="b" t="t" l="l"/>
            <a:pathLst>
              <a:path h="5629862" w="4609449">
                <a:moveTo>
                  <a:pt x="0" y="0"/>
                </a:moveTo>
                <a:lnTo>
                  <a:pt x="4609449" y="0"/>
                </a:lnTo>
                <a:lnTo>
                  <a:pt x="4609449" y="5629862"/>
                </a:lnTo>
                <a:lnTo>
                  <a:pt x="0" y="562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817" y="0"/>
            <a:ext cx="2087033" cy="2087033"/>
          </a:xfrm>
          <a:custGeom>
            <a:avLst/>
            <a:gdLst/>
            <a:ahLst/>
            <a:cxnLst/>
            <a:rect r="r" b="b" t="t" l="l"/>
            <a:pathLst>
              <a:path h="2087033" w="2087033">
                <a:moveTo>
                  <a:pt x="0" y="0"/>
                </a:moveTo>
                <a:lnTo>
                  <a:pt x="2087034" y="0"/>
                </a:lnTo>
                <a:lnTo>
                  <a:pt x="2087034" y="2087033"/>
                </a:lnTo>
                <a:lnTo>
                  <a:pt x="0" y="208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32713" y="8750300"/>
            <a:ext cx="1536700" cy="1536700"/>
          </a:xfrm>
          <a:custGeom>
            <a:avLst/>
            <a:gdLst/>
            <a:ahLst/>
            <a:cxnLst/>
            <a:rect r="r" b="b" t="t" l="l"/>
            <a:pathLst>
              <a:path h="1536700" w="1536700">
                <a:moveTo>
                  <a:pt x="0" y="0"/>
                </a:moveTo>
                <a:lnTo>
                  <a:pt x="1536700" y="0"/>
                </a:lnTo>
                <a:lnTo>
                  <a:pt x="15367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86289" y="2223465"/>
            <a:ext cx="1045633" cy="1045633"/>
          </a:xfrm>
          <a:custGeom>
            <a:avLst/>
            <a:gdLst/>
            <a:ahLst/>
            <a:cxnLst/>
            <a:rect r="r" b="b" t="t" l="l"/>
            <a:pathLst>
              <a:path h="1045633" w="1045633">
                <a:moveTo>
                  <a:pt x="0" y="0"/>
                </a:moveTo>
                <a:lnTo>
                  <a:pt x="1045634" y="0"/>
                </a:lnTo>
                <a:lnTo>
                  <a:pt x="1045634" y="1045633"/>
                </a:lnTo>
                <a:lnTo>
                  <a:pt x="0" y="10456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486163" y="3633265"/>
            <a:ext cx="5246370" cy="524637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778860"/>
                  </a:lnTo>
                  <a:cubicBezTo>
                    <a:pt x="812800" y="797604"/>
                    <a:pt x="797604" y="812800"/>
                    <a:pt x="778860" y="812800"/>
                  </a:cubicBezTo>
                  <a:lnTo>
                    <a:pt x="33940" y="812800"/>
                  </a:lnTo>
                  <a:cubicBezTo>
                    <a:pt x="15196" y="812800"/>
                    <a:pt x="0" y="797604"/>
                    <a:pt x="0" y="77886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166533" y="70216"/>
            <a:ext cx="12387754" cy="172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80"/>
              </a:lnSpc>
            </a:pPr>
            <a:r>
              <a:rPr lang="en-US" sz="1012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2701" y="3328670"/>
            <a:ext cx="7341299" cy="592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C326D"/>
                </a:solidFill>
                <a:latin typeface="Emmali"/>
                <a:ea typeface="Emmali"/>
                <a:cs typeface="Emmali"/>
                <a:sym typeface="Emmali"/>
              </a:rPr>
              <a:t>AthletIA finalizó como una plataforma integral que combina IA, seguimiento de progreso, calendario inteligente y módulos sociales. El usuario puede recibir rutinas personalizadas, registrar su evolución física y acceder a una interfaz moderna y responsiva. Además, se implementó un modelo predictivo avanzado, un mapa corporal interactivo y un dashboard con métricas reales, dando como resultado un producto funcional, escalable y de alto valor para la experiencia fitness.</a:t>
            </a:r>
          </a:p>
          <a:p>
            <a:pPr algn="ctr">
              <a:lnSpc>
                <a:spcPts val="391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182380" y="194041"/>
            <a:ext cx="1855865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Athletia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672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228522" y="-19509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25372" y="6356970"/>
            <a:ext cx="5934301" cy="676932"/>
            <a:chOff x="0" y="0"/>
            <a:chExt cx="1562943" cy="1782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2943" cy="178287"/>
            </a:xfrm>
            <a:custGeom>
              <a:avLst/>
              <a:gdLst/>
              <a:ahLst/>
              <a:cxnLst/>
              <a:rect r="r" b="b" t="t" l="l"/>
              <a:pathLst>
                <a:path h="178287" w="1562943">
                  <a:moveTo>
                    <a:pt x="66535" y="0"/>
                  </a:moveTo>
                  <a:lnTo>
                    <a:pt x="1496409" y="0"/>
                  </a:lnTo>
                  <a:cubicBezTo>
                    <a:pt x="1533155" y="0"/>
                    <a:pt x="1562943" y="29789"/>
                    <a:pt x="1562943" y="66535"/>
                  </a:cubicBezTo>
                  <a:lnTo>
                    <a:pt x="1562943" y="111752"/>
                  </a:lnTo>
                  <a:cubicBezTo>
                    <a:pt x="1562943" y="148498"/>
                    <a:pt x="1533155" y="178287"/>
                    <a:pt x="1496409" y="178287"/>
                  </a:cubicBezTo>
                  <a:lnTo>
                    <a:pt x="66535" y="178287"/>
                  </a:lnTo>
                  <a:cubicBezTo>
                    <a:pt x="48889" y="178287"/>
                    <a:pt x="31965" y="171277"/>
                    <a:pt x="19488" y="158799"/>
                  </a:cubicBezTo>
                  <a:cubicBezTo>
                    <a:pt x="7010" y="146321"/>
                    <a:pt x="0" y="129398"/>
                    <a:pt x="0" y="111752"/>
                  </a:cubicBezTo>
                  <a:lnTo>
                    <a:pt x="0" y="66535"/>
                  </a:lnTo>
                  <a:cubicBezTo>
                    <a:pt x="0" y="29789"/>
                    <a:pt x="29789" y="0"/>
                    <a:pt x="66535" y="0"/>
                  </a:cubicBez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62943" cy="216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16838" y="357068"/>
            <a:ext cx="2037574" cy="2037574"/>
          </a:xfrm>
          <a:custGeom>
            <a:avLst/>
            <a:gdLst/>
            <a:ahLst/>
            <a:cxnLst/>
            <a:rect r="r" b="b" t="t" l="l"/>
            <a:pathLst>
              <a:path h="2037574" w="2037574">
                <a:moveTo>
                  <a:pt x="0" y="0"/>
                </a:moveTo>
                <a:lnTo>
                  <a:pt x="2037573" y="0"/>
                </a:lnTo>
                <a:lnTo>
                  <a:pt x="2037573" y="2037573"/>
                </a:lnTo>
                <a:lnTo>
                  <a:pt x="0" y="2037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24354" y="7549626"/>
            <a:ext cx="2139731" cy="2139731"/>
          </a:xfrm>
          <a:custGeom>
            <a:avLst/>
            <a:gdLst/>
            <a:ahLst/>
            <a:cxnLst/>
            <a:rect r="r" b="b" t="t" l="l"/>
            <a:pathLst>
              <a:path h="2139731" w="2139731">
                <a:moveTo>
                  <a:pt x="0" y="0"/>
                </a:moveTo>
                <a:lnTo>
                  <a:pt x="2139730" y="0"/>
                </a:lnTo>
                <a:lnTo>
                  <a:pt x="2139730" y="2139730"/>
                </a:lnTo>
                <a:lnTo>
                  <a:pt x="0" y="2139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719191" y="2874551"/>
            <a:ext cx="2583574" cy="907364"/>
            <a:chOff x="0" y="0"/>
            <a:chExt cx="680448" cy="2389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448" cy="238977"/>
            </a:xfrm>
            <a:custGeom>
              <a:avLst/>
              <a:gdLst/>
              <a:ahLst/>
              <a:cxnLst/>
              <a:rect r="r" b="b" t="t" l="l"/>
              <a:pathLst>
                <a:path h="238977" w="680448">
                  <a:moveTo>
                    <a:pt x="0" y="0"/>
                  </a:moveTo>
                  <a:lnTo>
                    <a:pt x="680448" y="0"/>
                  </a:lnTo>
                  <a:lnTo>
                    <a:pt x="680448" y="238977"/>
                  </a:lnTo>
                  <a:lnTo>
                    <a:pt x="0" y="238977"/>
                  </a:lnTo>
                  <a:close/>
                </a:path>
              </a:pathLst>
            </a:custGeom>
            <a:solidFill>
              <a:srgbClr val="0C32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0448" cy="277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83900" y="3705715"/>
            <a:ext cx="6920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¡GRACIAS!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83900" y="4889447"/>
            <a:ext cx="69202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C326D"/>
                </a:solidFill>
                <a:latin typeface="Lovelo"/>
                <a:ea typeface="Lovelo"/>
                <a:cs typeface="Lovelo"/>
                <a:sym typeface="Lovelo"/>
              </a:rPr>
              <a:t>PREGUNTAS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51802" y="6389316"/>
            <a:ext cx="4384396" cy="54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31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PROYECTO: ATHLETIA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74041" y="2931938"/>
            <a:ext cx="2673874" cy="84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9"/>
              </a:lnSpc>
            </a:pPr>
            <a:r>
              <a:rPr lang="en-US" sz="4914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DAG4oonG850</dc:identifier>
  <dcterms:modified xsi:type="dcterms:W3CDTF">2011-08-01T06:04:30Z</dcterms:modified>
  <cp:revision>1</cp:revision>
  <dc:title>Athletia</dc:title>
</cp:coreProperties>
</file>